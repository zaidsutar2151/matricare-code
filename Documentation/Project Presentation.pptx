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500" r:id="rId3"/>
    <p:sldId id="492" r:id="rId4"/>
    <p:sldId id="493" r:id="rId5"/>
    <p:sldId id="499" r:id="rId6"/>
    <p:sldId id="494" r:id="rId7"/>
    <p:sldId id="495" r:id="rId8"/>
    <p:sldId id="496" r:id="rId9"/>
    <p:sldId id="497" r:id="rId10"/>
    <p:sldId id="498" r:id="rId11"/>
    <p:sldId id="43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9110" autoAdjust="0"/>
  </p:normalViewPr>
  <p:slideViewPr>
    <p:cSldViewPr showGuides="1">
      <p:cViewPr>
        <p:scale>
          <a:sx n="107" d="100"/>
          <a:sy n="107" d="100"/>
        </p:scale>
        <p:origin x="-1884" y="-8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3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7FA5-C067-4E4F-8147-A77E8934811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5BE67-2E9A-447C-AF46-59D27281797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8FCD1C-8588-4709-BEB2-73486BCF474D}" type="datetime5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14900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676400" cy="228600"/>
          </a:xfrm>
        </p:spPr>
        <p:txBody>
          <a:bodyPr/>
          <a:lstStyle/>
          <a:p>
            <a:fld id="{8D3E23C1-5B44-4112-93AF-A30E9A7C524B}" type="datetime5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33950"/>
            <a:ext cx="3962400" cy="228600"/>
          </a:xfrm>
        </p:spPr>
        <p:txBody>
          <a:bodyPr/>
          <a:lstStyle/>
          <a:p>
            <a:r>
              <a:rPr lang="en-US" dirty="0"/>
              <a:t>Title of Seminar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4914900"/>
            <a:ext cx="1143000" cy="2286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447800" cy="228600"/>
          </a:xfrm>
        </p:spPr>
        <p:txBody>
          <a:bodyPr/>
          <a:lstStyle/>
          <a:p>
            <a:fld id="{7E8AD04D-D170-40EE-B403-D97B74D6DFB9}" type="datetime5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14900"/>
            <a:ext cx="3962400" cy="228600"/>
          </a:xfrm>
        </p:spPr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0" y="4914900"/>
            <a:ext cx="1447800" cy="2286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436A-7370-4199-BDE3-9FA46362589A}" type="datetime5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A6F7-2FD3-4E44-96EF-0AABFEB3FD4C}" type="datetime5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87E73-BF7C-4D7B-AD77-6EC912569560}" type="datetime5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1FB8-617B-4727-8374-B778C5FC049E}" type="datetime5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1DF-D39C-424B-AD8B-46E59B2896B9}" type="datetime5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6C55-F6DB-479E-B4FF-F57EC2760E6F}" type="datetime5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AEE2-BAD7-4BEC-8CB0-1B79A92617B4}" type="datetime5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468C-78FC-431C-9733-A70C6804E538}" type="datetime5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2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pic>
        <p:nvPicPr>
          <p:cNvPr id="8" name="Picture 7" descr="Picture1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7542" y="4837714"/>
            <a:ext cx="9126458" cy="305786"/>
          </a:xfrm>
          <a:prstGeom prst="rect">
            <a:avLst/>
          </a:prstGeom>
        </p:spPr>
      </p:pic>
      <p:pic>
        <p:nvPicPr>
          <p:cNvPr id="7" name="Picture 6" descr="Picture2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5400" y="4592827"/>
            <a:ext cx="660400" cy="53558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3FA7430-01A1-4F5E-B7E3-1D80248A6685}" type="datetime5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91490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38149"/>
            <a:ext cx="7772400" cy="3276601"/>
          </a:xfrm>
        </p:spPr>
        <p:txBody>
          <a:bodyPr>
            <a:noAutofit/>
          </a:bodyPr>
          <a:lstStyle/>
          <a:p>
            <a:pPr lvl="0"/>
            <a:r>
              <a:rPr lang="en-IN" sz="18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A </a:t>
            </a:r>
            <a:r>
              <a:rPr lang="en-IN" sz="1800" dirty="0" smtClean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Project  </a:t>
            </a:r>
            <a:r>
              <a:rPr lang="en-IN" sz="18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on</a:t>
            </a:r>
            <a:br>
              <a:rPr lang="en-IN" sz="18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2400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“</a:t>
            </a:r>
            <a:r>
              <a:rPr lang="en-US" altLang="en-US" sz="22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MatriCare AI - AI based Prediction of </a:t>
            </a:r>
            <a:br>
              <a:rPr lang="en-US" altLang="en-US" sz="24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US" altLang="en-US" sz="24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Labour</a:t>
            </a:r>
            <a:r>
              <a:rPr lang="en-US" altLang="en-US" sz="22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 related Complications</a:t>
            </a:r>
            <a:r>
              <a:rPr lang="en-IN" sz="28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”</a:t>
            </a:r>
            <a:br>
              <a:rPr lang="en-IN" sz="2400" b="1" dirty="0">
                <a:solidFill>
                  <a:srgbClr val="0070C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16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Presented By</a:t>
            </a:r>
            <a:br>
              <a:rPr lang="en-IN" sz="16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1. </a:t>
            </a:r>
            <a:r>
              <a:rPr lang="en-US" alt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Varsha Devdas - 73</a:t>
            </a:r>
            <a:b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2. </a:t>
            </a:r>
            <a:r>
              <a:rPr lang="en-US" alt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Sakshi Bhumkar - 64</a:t>
            </a:r>
            <a:b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3. </a:t>
            </a:r>
            <a:r>
              <a:rPr lang="en-US" alt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Aditya Kamble - 49</a:t>
            </a:r>
            <a:br>
              <a:rPr lang="en-US" alt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US" alt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4. Md Zaid Sutar - 38</a:t>
            </a:r>
            <a:b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b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  <a:t>Class : </a:t>
            </a:r>
            <a:r>
              <a:rPr lang="en-IN" sz="1600" b="1" dirty="0" smtClean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  <a:t>B. Tech. </a:t>
            </a:r>
            <a:r>
              <a:rPr lang="en-IN" sz="1600" b="1" dirty="0" err="1" smtClean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  <a:t>Sem</a:t>
            </a:r>
            <a:r>
              <a:rPr lang="en-IN" sz="1600" b="1" dirty="0" smtClean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  <a:t>-I</a:t>
            </a:r>
            <a:br>
              <a:rPr lang="en-IN" sz="1600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</a:br>
            <a:br>
              <a:rPr lang="en-IN" sz="1600" dirty="0">
                <a:solidFill>
                  <a:srgbClr val="7030A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IN" sz="16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Under the guidance of</a:t>
            </a:r>
            <a:br>
              <a:rPr lang="en-IN" sz="1600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US" altLang="en-IN" sz="2400" b="1" dirty="0">
                <a:solidFill>
                  <a:srgbClr val="800000"/>
                </a:solidFill>
                <a:latin typeface="Bookman Old Style" panose="02050604050505020204" pitchFamily="18" charset="0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  <a:t>Prof G N Chanderki</a:t>
            </a:r>
            <a:br>
              <a:rPr lang="en-IN" sz="2400" b="1" dirty="0">
                <a:solidFill>
                  <a:srgbClr val="800000"/>
                </a:solidFill>
                <a:latin typeface="Bookman Old Style" panose="02050604050505020204" pitchFamily="18" charset="0"/>
                <a:ea typeface="Bookman Old Style" panose="02050604050505020204"/>
                <a:cs typeface="Times New Roman" panose="02020603050405020304" pitchFamily="18" charset="0"/>
                <a:sym typeface="Bookman Old Style" panose="02050604050505020204"/>
              </a:rPr>
            </a:br>
            <a:endParaRPr lang="en-IN" sz="2400" b="1" dirty="0">
              <a:solidFill>
                <a:srgbClr val="800000"/>
              </a:solidFill>
              <a:latin typeface="Bookman Old Style" panose="02050604050505020204" pitchFamily="18" charset="0"/>
              <a:ea typeface="Bookman Old Style" panose="02050604050505020204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638550"/>
            <a:ext cx="8839200" cy="1066800"/>
          </a:xfrm>
        </p:spPr>
        <p:txBody>
          <a:bodyPr>
            <a:noAutofit/>
          </a:bodyPr>
          <a:lstStyle/>
          <a:p>
            <a:pPr lvl="0"/>
            <a:r>
              <a:rPr lang="en-US" sz="1800" b="1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Department of Artificial Intelligence &amp; Data Science</a:t>
            </a:r>
            <a:endParaRPr lang="en-IN" sz="1800" b="1" dirty="0">
              <a:solidFill>
                <a:schemeClr val="dk1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  <a:p>
            <a:pPr lvl="0"/>
            <a:r>
              <a:rPr lang="en-IN" sz="1800" b="1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N.K. Orchid College of Engineering &amp; Technology, </a:t>
            </a:r>
            <a:r>
              <a:rPr lang="en-IN" sz="1800" b="1" dirty="0" err="1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Solapur</a:t>
            </a:r>
            <a:r>
              <a:rPr lang="en-IN" sz="1800" b="1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.</a:t>
            </a:r>
            <a:endParaRPr lang="en-IN" sz="1400" b="1" dirty="0">
              <a:solidFill>
                <a:schemeClr val="dk1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  <a:p>
            <a:pPr lvl="0"/>
            <a:r>
              <a:rPr lang="en-IN" sz="1400" b="1" dirty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 </a:t>
            </a:r>
            <a:r>
              <a:rPr lang="en-IN" sz="1400" b="1" dirty="0" smtClean="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2025-2026</a:t>
            </a:r>
            <a:endParaRPr lang="en-IN" sz="1400" b="1" dirty="0">
              <a:solidFill>
                <a:schemeClr val="dk1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5750"/>
            <a:ext cx="1257300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87053"/>
            <a:ext cx="1295400" cy="13623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8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Contents</a:t>
            </a:r>
            <a:endParaRPr lang="en-IN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 smtClean="0">
                <a:latin typeface="Bookman Old Style" panose="02050604050505020204" pitchFamily="18" charset="0"/>
                <a:sym typeface="Bookman Old Style" panose="02050604050505020204"/>
              </a:rPr>
              <a:t>Abstract </a:t>
            </a:r>
            <a:endParaRPr lang="en-US" sz="2400" b="1" dirty="0">
              <a:latin typeface="Bookman Old Style" panose="02050604050505020204" pitchFamily="18" charset="0"/>
              <a:sym typeface="Bookman Old Style" panose="02050604050505020204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anose="02050604050505020204" pitchFamily="18" charset="0"/>
                <a:sym typeface="Bookman Old Style" panose="02050604050505020204"/>
              </a:rPr>
              <a:t>Literature </a:t>
            </a:r>
            <a:r>
              <a:rPr lang="en-US" sz="2400" b="1" dirty="0" smtClean="0">
                <a:latin typeface="Bookman Old Style" panose="02050604050505020204" pitchFamily="18" charset="0"/>
                <a:sym typeface="Bookman Old Style" panose="02050604050505020204"/>
              </a:rPr>
              <a:t>Review/Related Work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 smtClean="0">
                <a:latin typeface="Bookman Old Style" panose="02050604050505020204" pitchFamily="18" charset="0"/>
              </a:rPr>
              <a:t>Research /Application Gap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 smtClean="0">
                <a:latin typeface="Bookman Old Style" panose="02050604050505020204" pitchFamily="18" charset="0"/>
              </a:rPr>
              <a:t>Objective of Proposed Project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5</a:t>
            </a:r>
            <a:r>
              <a:rPr lang="en-US" sz="2400" b="1" dirty="0" smtClean="0">
                <a:latin typeface="Bookman Old Style" panose="02050604050505020204" pitchFamily="18" charset="0"/>
              </a:rPr>
              <a:t>.  </a:t>
            </a:r>
            <a:r>
              <a:rPr lang="en-US" sz="2400" b="1" dirty="0" smtClean="0">
                <a:latin typeface="Bookman Old Style" panose="02050604050505020204" pitchFamily="18" charset="0"/>
              </a:rPr>
              <a:t>Proposed Methodology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6</a:t>
            </a:r>
            <a:r>
              <a:rPr lang="en-US" sz="2400" b="1" dirty="0" smtClean="0">
                <a:latin typeface="Bookman Old Style" panose="02050604050505020204" pitchFamily="18" charset="0"/>
              </a:rPr>
              <a:t>.  </a:t>
            </a:r>
            <a:r>
              <a:rPr lang="en-US" sz="2400" b="1" dirty="0" smtClean="0">
                <a:latin typeface="Bookman Old Style" panose="02050604050505020204" pitchFamily="18" charset="0"/>
              </a:rPr>
              <a:t>Expected Outcome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7</a:t>
            </a:r>
            <a:r>
              <a:rPr lang="en-US" sz="2400" b="1" dirty="0" smtClean="0">
                <a:latin typeface="Bookman Old Style" panose="02050604050505020204" pitchFamily="18" charset="0"/>
              </a:rPr>
              <a:t>.  </a:t>
            </a:r>
            <a:r>
              <a:rPr lang="en-US" sz="2400" b="1" dirty="0" smtClean="0">
                <a:latin typeface="Bookman Old Style" panose="02050604050505020204" pitchFamily="18" charset="0"/>
              </a:rPr>
              <a:t>References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1714500" lvl="4" indent="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lang="en-US" sz="1200" b="1" dirty="0">
              <a:latin typeface="Bookman Old Style" panose="02050604050505020204" pitchFamily="18" charset="0"/>
              <a:sym typeface="Bookman Old Style" panose="02050604050505020204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 smtClean="0">
                <a:latin typeface="Bookman Old Style" panose="02050604050505020204"/>
                <a:sym typeface="Bookman Old Style" panose="02050604050505020204"/>
              </a:rPr>
              <a:t>Abstract</a:t>
            </a:r>
            <a:endParaRPr lang="en-IN" sz="2800" b="1" kern="0" dirty="0">
              <a:latin typeface="Bookman Old Style" panose="02050604050505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 algn="just">
              <a:buNone/>
            </a:pPr>
            <a:r>
              <a:rPr lang="en-US" altLang="en-US" dirty="0"/>
              <a:t>MetriCare AI is an AI-powered healthcare system to predict and prevent pregnancy-related complications. It has</a:t>
            </a:r>
            <a:r>
              <a:rPr lang="en-US" altLang="en-US" dirty="0"/>
              <a:t> </a:t>
            </a:r>
            <a:r>
              <a:rPr lang="en-US" altLang="en-US" dirty="0"/>
              <a:t>two</a:t>
            </a:r>
            <a:r>
              <a:rPr lang="en-US" altLang="en-US" dirty="0"/>
              <a:t> </a:t>
            </a:r>
            <a:r>
              <a:rPr lang="en-US" altLang="en-US" dirty="0"/>
              <a:t>main</a:t>
            </a:r>
            <a:r>
              <a:rPr lang="en-US" altLang="en-US" dirty="0"/>
              <a:t> </a:t>
            </a:r>
            <a:r>
              <a:rPr lang="en-US" altLang="en-US" dirty="0"/>
              <a:t>parts:</a:t>
            </a:r>
            <a:endParaRPr lang="en-US" altLang="en-US" dirty="0"/>
          </a:p>
          <a:p>
            <a:pPr marL="514350" indent="-514350" algn="just">
              <a:buAutoNum type="arabicPeriod"/>
            </a:pPr>
            <a:r>
              <a:rPr lang="en-US" altLang="en-US" dirty="0"/>
              <a:t>Labour Care Module – monitors the mother during 36–40 hours of labour using vital signs and fetal data to give early warnings for risks such as heavy bleeding, seizures, infection, or fetal distress.</a:t>
            </a:r>
            <a:endParaRPr lang="en-US" altLang="en-US" dirty="0"/>
          </a:p>
          <a:p>
            <a:pPr marL="514350" indent="-514350" algn="just">
              <a:buAutoNum type="arabicPeriod"/>
            </a:pPr>
            <a:r>
              <a:rPr lang="en-US" altLang="en-US" dirty="0"/>
              <a:t>Pregnancy Care Module – supports mothers through the full 9 months with simple nutrition tips, exercise suggestions, and early risk prediction for issues like diabetes and high</a:t>
            </a:r>
            <a:r>
              <a:rPr lang="en-US" altLang="en-US" dirty="0"/>
              <a:t> </a:t>
            </a:r>
            <a:r>
              <a:rPr lang="en-US" altLang="en-US" dirty="0"/>
              <a:t>blood</a:t>
            </a:r>
            <a:r>
              <a:rPr lang="en-US" altLang="en-US" dirty="0"/>
              <a:t> </a:t>
            </a:r>
            <a:r>
              <a:rPr lang="en-US" altLang="en-US" dirty="0"/>
              <a:t>pressure.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The goal is to provide timely support for doctors and continuous guidance for mothers, ensuring safer deliveries and healthier</a:t>
            </a:r>
            <a:r>
              <a:rPr lang="en-US" altLang="en-US" dirty="0"/>
              <a:t> </a:t>
            </a:r>
            <a:r>
              <a:rPr lang="en-US" altLang="en-US" dirty="0"/>
              <a:t>pregnancies.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latin typeface="Bookman Old Style" panose="02050604050505020204"/>
                <a:sym typeface="Bookman Old Style" panose="02050604050505020204"/>
              </a:rPr>
              <a:t>Literature </a:t>
            </a:r>
            <a:r>
              <a:rPr lang="en-US" sz="2800" b="1" kern="0" dirty="0" smtClean="0">
                <a:latin typeface="Bookman Old Style" panose="02050604050505020204"/>
                <a:sym typeface="Bookman Old Style" panose="02050604050505020204"/>
              </a:rPr>
              <a:t>Review/Related Work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 dirty="0"/>
              <a:t>Researchers have explored AI in pregnancy and labour risk prediction. Sharma et al. used deep learning for maternal mortality prediction [1], while Huang et al. applied ML to fetal heart rate data for detecting distress [2]. Reviews by Al-Dalou et al. [3] and Das et al. [4] highlight the use of ML in pregnancy but also point out gaps in continuous intrapartum monitoring. Suresh et al. introduced interpretable models for maternal complications [5], and Zhang et al. predicted postpartum hemorrhage using ML [6]. Westgate et al. worked on real-time fetal health prediction [7], and Nunes et al. improved intrapartum risk scoring with gradient boosting [8].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Bookman Old Style" panose="02050604050505020204" pitchFamily="18" charset="0"/>
              </a:rPr>
              <a:t>Research / Application Gap</a:t>
            </a:r>
            <a:endParaRPr lang="en-IN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1900" dirty="0"/>
              <a:t>Most existing systems focus only on mortality statistics rather than real-time complication prediction.</a:t>
            </a:r>
            <a:endParaRPr lang="en-US" altLang="en-US" sz="1900" dirty="0"/>
          </a:p>
          <a:p>
            <a:pPr algn="just"/>
            <a:r>
              <a:rPr lang="en-US" altLang="en-US" sz="1900" dirty="0"/>
              <a:t>Limited use of AI on continuous labour monitoring data (36–40 hrs).</a:t>
            </a:r>
            <a:endParaRPr lang="en-US" altLang="en-US" sz="1900" dirty="0"/>
          </a:p>
          <a:p>
            <a:pPr algn="just"/>
            <a:r>
              <a:rPr lang="en-US" altLang="en-US" sz="1900" dirty="0"/>
              <a:t>Very few solutions combine both pregnancy care (9 months) and labour care in one system.</a:t>
            </a:r>
            <a:endParaRPr lang="en-US" altLang="en-US" sz="1900" dirty="0"/>
          </a:p>
          <a:p>
            <a:pPr algn="just"/>
            <a:r>
              <a:rPr lang="en-US" altLang="en-US" sz="1900" dirty="0"/>
              <a:t>Lack of personalized guidance (nutrition, exercise, lifestyle) for expecting mothers.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Minimal deployment of AI-powered early warning systems in rural or resource-limited healthcare</a:t>
            </a:r>
            <a:r>
              <a:rPr lang="en-US" altLang="en-US" sz="1900" dirty="0"/>
              <a:t> </a:t>
            </a:r>
            <a:r>
              <a:rPr lang="en-US" altLang="en-US" sz="1900" dirty="0"/>
              <a:t>settings.</a:t>
            </a:r>
            <a:endParaRPr lang="en-US" altLang="en-US" sz="19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br>
              <a:rPr lang="en-US" sz="2800" b="1" dirty="0" smtClean="0">
                <a:latin typeface="Bookman Old Style" panose="02050604050505020204" pitchFamily="18" charset="0"/>
              </a:rPr>
            </a:br>
            <a:r>
              <a:rPr lang="en-US" sz="2800" b="1" dirty="0" smtClean="0">
                <a:latin typeface="Bookman Old Style" panose="02050604050505020204" pitchFamily="18" charset="0"/>
              </a:rPr>
              <a:t>Objective of Proposed Project</a:t>
            </a:r>
            <a:br>
              <a:rPr lang="en-US" sz="2800" b="1" dirty="0">
                <a:latin typeface="Bookman Old Style" panose="02050604050505020204" pitchFamily="18" charset="0"/>
              </a:rPr>
            </a:b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" y="1200150"/>
            <a:ext cx="8594090" cy="3394710"/>
          </a:xfrm>
        </p:spPr>
        <p:txBody>
          <a:bodyPr>
            <a:noAutofit/>
          </a:bodyPr>
          <a:lstStyle/>
          <a:p>
            <a:pPr algn="just"/>
            <a:r>
              <a:rPr lang="en-US" altLang="en-US" sz="1900" dirty="0"/>
              <a:t>To design an AI-based system for predicting pregnancy and delivery-related complications.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To develop a Labour Care Module that provides real-time alerts for risks like hemorrhage, eclampsia, sepsis, and fetal distress.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To build a Pregnancy Care Module that offers nutrition, exercise suggestions, and early risk prediction throughout 9 months.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To assist healthcare professionals with timely decision-making during labour.</a:t>
            </a:r>
            <a:endParaRPr lang="en-US" altLang="en-US" sz="1900" dirty="0"/>
          </a:p>
          <a:p>
            <a:pPr algn="just"/>
            <a:r>
              <a:rPr lang="en-US" altLang="en-US" sz="1900" dirty="0"/>
              <a:t>To empower mothers with continuous support and self-care guidance during</a:t>
            </a:r>
            <a:r>
              <a:rPr lang="en-US" altLang="en-US" sz="1900" dirty="0"/>
              <a:t> </a:t>
            </a:r>
            <a:r>
              <a:rPr lang="en-US" altLang="en-US" sz="1900" dirty="0"/>
              <a:t>pregnancy.</a:t>
            </a:r>
            <a:endParaRPr lang="en-US" altLang="en-US" sz="19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200" b="1" dirty="0" smtClean="0">
                <a:latin typeface="Bookman Old Style" panose="02050604050505020204" pitchFamily="18" charset="0"/>
              </a:rPr>
            </a:br>
            <a:br>
              <a:rPr lang="en-US" sz="3200" b="1" dirty="0">
                <a:latin typeface="Bookman Old Style" panose="02050604050505020204" pitchFamily="18" charset="0"/>
              </a:rPr>
            </a:br>
            <a:r>
              <a:rPr lang="en-US" sz="3200" b="1" dirty="0" smtClean="0">
                <a:latin typeface="Bookman Old Style" panose="02050604050505020204" pitchFamily="18" charset="0"/>
              </a:rPr>
              <a:t>Proposed Methodology</a:t>
            </a:r>
            <a:br>
              <a:rPr lang="en-US" sz="3200" b="1" dirty="0">
                <a:latin typeface="Bookman Old Style" panose="02050604050505020204" pitchFamily="18" charset="0"/>
              </a:rPr>
            </a:br>
            <a:br>
              <a:rPr lang="en-US" sz="4400" b="1" dirty="0">
                <a:latin typeface="Bookman Old Style" panose="02050604050505020204" pitchFamily="18" charset="0"/>
              </a:rPr>
            </a:b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4" name="Picture 3" descr="AI Labor Monitoring Flow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047750"/>
            <a:ext cx="6387465" cy="353885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Bookman Old Style" panose="02050604050505020204" pitchFamily="18" charset="0"/>
              </a:rPr>
              <a:t>Expected Outcome</a:t>
            </a: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en-US" sz="1900" dirty="0"/>
              <a:t>An AI-powered system (MetriCare AI) for predicting pregnancy and labour-related complications.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Labour Care Module that provides real-time early warnings during 36–40 hrs of delivery.</a:t>
            </a:r>
            <a:endParaRPr lang="en-US" altLang="en-US" sz="1900" dirty="0"/>
          </a:p>
          <a:p>
            <a:pPr algn="just"/>
            <a:r>
              <a:rPr lang="en-US" altLang="en-US" sz="1900" dirty="0"/>
              <a:t>Pregnancy Care Module that guides mothers with nutrition, exercise, and risk alerts across 9 months.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Improved safety for mothers and babies through timely interventions.</a:t>
            </a:r>
            <a:endParaRPr lang="en-US" altLang="en-US" sz="1900" dirty="0"/>
          </a:p>
          <a:p>
            <a:pPr algn="just"/>
            <a:r>
              <a:rPr lang="en-US" altLang="en-US" sz="1900" dirty="0"/>
              <a:t>A step toward smart healthcare solutions for maternal well-being in both urban and rural settings.</a:t>
            </a:r>
            <a:endParaRPr lang="en-US" altLang="en-US" sz="19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Bookman Old Style" panose="02050604050505020204" pitchFamily="18" charset="0"/>
              </a:rPr>
              <a:t>References</a:t>
            </a: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en-US" sz="1300" dirty="0"/>
              <a:t>[1] R. Sharma et al., "Deep Learning for Predicting Maternal Mortality," BMC Pregnancy and Childbirth, 2023.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[2] Y. Huang et al., "Machine Learning Prediction of Non-Reassuring Fetal Heart Rate Patterns in Labor," Scientific Reports, 2025.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[3] A. Al-Dalou et al., "Using Machine Learning to Predict Complications in Pregnancy: A Systematic Review," Frontiers in Bioengineering and Biotechnology, vol. 9, p. 780389, 2021.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[4] S. Das et al., "Machine Learning in Obstetrics: Prediction of Diseases and Risks," Lancet Digital Health, vol. 5, no. 2, pp. e100–e110, 2023.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[5] H. Suresh et al., "Interpretable Machine Learning for Pregnancy Complications using Explainable Boosting Machines," arXiv preprint arXiv:2310.10203, 2023.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[6] L. Zhang et al., "Machine Learning for Postpartum Hemorrhage Prediction in Labor and Delivery," JMIR Bioinformatics and Biotech., vol. 5, no. 1, p. e52059, 2024.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[7] J. Westgate et al., "Prediction of Fetal Cardiovascular Decompensation Using Machine Learning Models on FHR Data," arXiv preprint arXiv:1911.01304, 2019.</a:t>
            </a:r>
            <a:endParaRPr lang="en-US" altLang="en-US" sz="1300" dirty="0"/>
          </a:p>
          <a:p>
            <a:pPr algn="just"/>
            <a:r>
              <a:rPr lang="en-US" altLang="en-US" sz="1300" dirty="0"/>
              <a:t>[8] R. Nunes et al., "Intrapartum Risk Scoring with Gradient Boosting Improves Prediction of Labor Outcomes," PLoS One, vol. 17, no. 12, p. e0278050, 2022.</a:t>
            </a:r>
            <a:endParaRPr lang="en-US" altLang="en-US" sz="13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74147" y="1246921"/>
            <a:ext cx="5395705" cy="3581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itle 2"/>
          <p:cNvSpPr txBox="1"/>
          <p:nvPr/>
        </p:nvSpPr>
        <p:spPr bwMode="auto">
          <a:xfrm>
            <a:off x="1333500" y="361950"/>
            <a:ext cx="647700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34" charset="0"/>
              </a:rPr>
              <a:t>THANK YOU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leway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90800" y="4933950"/>
            <a:ext cx="3962400" cy="228600"/>
          </a:xfrm>
        </p:spPr>
        <p:txBody>
          <a:bodyPr/>
          <a:lstStyle/>
          <a:p>
            <a:r>
              <a:rPr lang="en-US" altLang="en-US" dirty="0"/>
              <a:t>MatriCare AI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dirty="0" smtClean="0"/>
              <a:t>Date 10/9/2025</a:t>
            </a:r>
            <a:endParaRPr lang="en-US" dirty="0"/>
          </a:p>
        </p:txBody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4834</Words>
  <Application>WPS Presentation</Application>
  <PresentationFormat>On-screen Show (16:9)</PresentationFormat>
  <Paragraphs>122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Bookman Old Style</vt:lpstr>
      <vt:lpstr>Times New Roman</vt:lpstr>
      <vt:lpstr>Bookman Old Style</vt:lpstr>
      <vt:lpstr>Calibri</vt:lpstr>
      <vt:lpstr>Raleway</vt:lpstr>
      <vt:lpstr>Segoe Print</vt:lpstr>
      <vt:lpstr>Microsoft YaHei</vt:lpstr>
      <vt:lpstr>Arial Unicode MS</vt:lpstr>
      <vt:lpstr>Office Theme</vt:lpstr>
      <vt:lpstr>A Project  on “MatriCare AI - AI based Prediction of  Pregnancy related Complications” Presented By 1. Varsha Devdas - 73 2. Sakshi Bhumkar - 64 3. Aditya Kamble - 49 4. Md Zaid Sutar - 38  Class : B. Tech. Sem-I  Under the guidance of Prof G N Chanderki </vt:lpstr>
      <vt:lpstr>Contents</vt:lpstr>
      <vt:lpstr>Abstract</vt:lpstr>
      <vt:lpstr>Literature Review/Related Work</vt:lpstr>
      <vt:lpstr>Research / Application Gap</vt:lpstr>
      <vt:lpstr> Objective of Proposed Project </vt:lpstr>
      <vt:lpstr>  Proposed Methodology  </vt:lpstr>
      <vt:lpstr>Expected Outcome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Adesh Chandanshive</dc:creator>
  <cp:keywords>Orchid EnTC</cp:keywords>
  <cp:lastModifiedBy>Md Zaid Sutar</cp:lastModifiedBy>
  <cp:revision>375</cp:revision>
  <dcterms:created xsi:type="dcterms:W3CDTF">2006-08-16T00:00:00Z</dcterms:created>
  <dcterms:modified xsi:type="dcterms:W3CDTF">2025-11-29T02:06:31Z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41F3213143E240379EFFBAA90CA92E4B_12</vt:lpwstr>
  </property>
  <property fmtid="{D5CDD505-2E9C-101B-9397-08002B2CF9AE}" pid="3" name="KSOProductBuildVer">
    <vt:lpwstr>1033-12.2.0.23155</vt:lpwstr>
  </property>
</Properties>
</file>